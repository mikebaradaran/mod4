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3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4.xml" ContentType="application/vnd.openxmlformats-officedocument.theme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77" r:id="rId5"/>
    <p:sldMasterId id="2147483964" r:id="rId6"/>
    <p:sldMasterId id="2147484051" r:id="rId7"/>
    <p:sldMasterId id="2147484138" r:id="rId8"/>
  </p:sldMasterIdLst>
  <p:notesMasterIdLst>
    <p:notesMasterId r:id="rId15"/>
  </p:notesMasterIdLst>
  <p:handoutMasterIdLst>
    <p:handoutMasterId r:id="rId16"/>
  </p:handoutMasterIdLst>
  <p:sldIdLst>
    <p:sldId id="301" r:id="rId9"/>
    <p:sldId id="302" r:id="rId10"/>
    <p:sldId id="329" r:id="rId11"/>
    <p:sldId id="303" r:id="rId12"/>
    <p:sldId id="307" r:id="rId13"/>
    <p:sldId id="319" r:id="rId14"/>
  </p:sldIdLst>
  <p:sldSz cx="12192000" cy="6858000"/>
  <p:notesSz cx="6645275" cy="9775825"/>
  <p:custDataLst>
    <p:tags r:id="rId17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11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  <p:cmAuthor id="3" name="Grant" initials="G" lastIdx="1" clrIdx="2">
    <p:extLst>
      <p:ext uri="{19B8F6BF-5375-455C-9EA6-DF929625EA0E}">
        <p15:presenceInfo xmlns:p15="http://schemas.microsoft.com/office/powerpoint/2012/main" userId="Grant" providerId="None"/>
      </p:ext>
    </p:extLst>
  </p:cmAuthor>
  <p:cmAuthor id="4" name="Foppa, Pedro" initials="FP" lastIdx="1" clrIdx="3">
    <p:extLst>
      <p:ext uri="{19B8F6BF-5375-455C-9EA6-DF929625EA0E}">
        <p15:presenceInfo xmlns:p15="http://schemas.microsoft.com/office/powerpoint/2012/main" userId="S::pfoppa@qa.com::78b15ebb-14ab-45f0-97b3-f50a9b67c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0CEF9"/>
    <a:srgbClr val="03EAB3"/>
    <a:srgbClr val="00D2FE"/>
    <a:srgbClr val="28CEF6"/>
    <a:srgbClr val="FFD217"/>
    <a:srgbClr val="FF6124"/>
    <a:srgbClr val="EECF40"/>
    <a:srgbClr val="A5FFFF"/>
    <a:srgbClr val="00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76224" autoAdjust="0"/>
  </p:normalViewPr>
  <p:slideViewPr>
    <p:cSldViewPr snapToGrid="0" snapToObjects="1">
      <p:cViewPr varScale="1">
        <p:scale>
          <a:sx n="73" d="100"/>
          <a:sy n="73" d="100"/>
        </p:scale>
        <p:origin x="606" y="54"/>
      </p:cViewPr>
      <p:guideLst>
        <p:guide pos="3840"/>
        <p:guide orient="horz" pos="37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33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16/04/2025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16/04/2025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097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1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01">
    <p:bg>
      <p:bgPr>
        <a:solidFill>
          <a:srgbClr val="0FE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7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57" userDrawn="1">
          <p15:clr>
            <a:srgbClr val="FBAE40"/>
          </p15:clr>
        </p15:guide>
        <p15:guide id="3" orient="horz" pos="36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36403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Housekeeping</a:t>
            </a:r>
            <a:endParaRPr lang="en-GB" noProof="0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C1B3813-DD9D-954E-BE79-A994AB3AFD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757463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3C862-6C7D-4099-B29A-B18CFC640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0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8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rgbClr val="004050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4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7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59132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74936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5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87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5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007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1666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2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9549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8CE8C71-4A26-D849-813C-580602CCB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9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22CC552-B995-3D44-97DB-048FA9D739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69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6C80C38-3722-474E-8B11-A2D0DDDA4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32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12CDA4-6DB7-9B47-B8BD-BC72661022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6269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688DDD5-996C-5A49-B7AA-2FBE46226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27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7306422-B398-BC4C-8476-3EB6DBC1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801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913617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1107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440E06-BD51-134C-8922-1FED8CE30B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3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437921-F8BF-FB43-B188-28C7B472CC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918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1107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950501-8A96-F740-8901-23C73CDCDD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872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6024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ABD8F74-8FD6-554A-BB95-259D126DE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3587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7336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3A48C6-BAF4-C24C-927C-1277EFA8D0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77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08EE555-3A54-004C-A759-75B8B80EE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9022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7C86B2-491D-4175-B781-C85C7A9602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383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6237" y="1240838"/>
            <a:ext cx="11431587" cy="523775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3pPr>
            <a:lvl4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4pPr>
            <a:lvl5pPr marL="355591" indent="-266693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93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326094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35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0717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948F714-4D77-CD42-BD58-84592393B6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0694070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757463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D9ABD-8C57-4882-866C-BC056D757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8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830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008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824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94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8269695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7922049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4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356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2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5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7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8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1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921621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9930038-7324-754A-9850-A216F52D7E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441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DF1ACB8-AF73-DE42-B25D-407198650B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5292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45BD70D-705E-6C48-85F0-2B8B8D29C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394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1090407-4F3B-F847-A7AB-C8C0EFB28A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2302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9C0454-8721-7947-A56E-58D569350C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052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8B0132-AE9F-DA4C-9229-D8371E10A7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914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410780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3935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46C840F-99B2-8C4C-A37D-F1F388F0C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8623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8241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39C13B6-7320-8544-8C3F-972BE573F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046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91069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032C547-F94C-1241-9D31-1F73ADBB24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34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0865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98D41BD-7B3B-1742-B394-CDE3B9E03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121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2A682AD-D487-474A-ACC8-8097477C3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864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7A21872-726D-FD41-8C44-AEDB5C0435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95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514" y="377546"/>
            <a:ext cx="5336420" cy="6147015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469053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84910-58FA-4EFA-A539-4B89BFCDC9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FB43B3-B490-477F-9165-5EA7092C40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51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40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97354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8601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Housekeeping</a:t>
            </a:r>
            <a:endParaRPr lang="en-GB" noProof="0" dirty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C7927F0-0060-E641-9DF6-FBEA1036D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tx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8794142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usekeep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3AF44A-1995-DE4D-9A46-5A2394C80A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2656835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2">
    <p:bg>
      <p:bgPr>
        <a:solidFill>
          <a:srgbClr val="E8C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95ECC-57F0-414E-B59C-F055BAC9D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34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et &amp; Greet 2">
    <p:bg>
      <p:bgPr>
        <a:solidFill>
          <a:srgbClr val="FF6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2B12B-0209-4F2C-B3BB-EE7164671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14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39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506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7858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511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5385691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20723907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58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93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81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43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80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33985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719BA34-23BB-1044-9AD7-64A0FC498A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00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03A16D8-C47D-2646-8D74-7305970A0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9CE94EC-D689-0844-B168-B5C04CE105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130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D1907F4-B2E5-E241-8CFF-3C1A5962F4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0029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A35AD87-FF52-FA40-A269-A1F35A25AE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4215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92D96B5-6708-5946-B56D-48C7C909E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783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03573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63942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ADBD2A6-9D59-8A42-B712-28AECE554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815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9795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425D0E0-656F-8441-9B06-9CCBF96661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145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422B83-86F8-9643-B75F-38DF13EE5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374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85337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ECDA1F6-68EE-9047-9ECF-D975CA62C8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27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F2FEA9A-101A-5A4C-83E2-4C0044BA6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48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3A21BE0-4841-FF4C-ABD6-32E1F111A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288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3">
    <p:bg>
      <p:bgPr>
        <a:solidFill>
          <a:srgbClr val="E86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84A5C5-2EE0-4240-9019-8B715BEE8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123B60-D604-9A41-BA50-1BF4AC36A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9515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3">
    <p:bg>
      <p:bgPr>
        <a:solidFill>
          <a:srgbClr val="FFD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7793DD-F793-8F4F-B74E-6B8630C826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F20315E-2B12-1B43-A789-90CFB92D6F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6302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B509EB7-6C12-4E21-BEEC-0CCC27628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2322C5-1CF3-42B4-96D7-04AE4FF89F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6929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507EE1D-A14D-478F-853C-B98EB3E70E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918B64-9105-4E90-815B-8AC734F02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092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19771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usekeeping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1EB17D6-1862-9E4C-AC48-E047218919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tx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75698405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3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E28BE-DA40-4803-B8FE-167E8D45A1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8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1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tx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 userDrawn="1"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 userDrawn="1"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0007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2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0671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3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 userDrawn="1"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tx1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 userDrawn="1"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4381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 userDrawn="1"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1263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5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 userDrawn="1"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87264285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6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 userDrawn="1"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13933804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>
              <a:solidFill>
                <a:schemeClr val="tx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4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29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0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2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04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tx1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5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8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9626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2BB93A1-2BBC-6E43-8966-8BC896D724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06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7482870-8F1E-4A40-98B3-EB4E14D20B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64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5231A29-C420-A24A-83D8-2845B3719A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9637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5EB805A-E7B4-1A4B-A713-5EC6CFC18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324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3A48D2-2003-3B48-9BA7-3C3C764A5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798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AD0D0D-8846-2F49-A055-6C6BC6354F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6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7464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99079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5821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4D068D3-76D2-6C48-BF65-509B44CAC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15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72216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FCF7FD-3F84-F04D-B73E-0F9F6BA831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834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033245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96E7A6F-DAC6-B441-B5F5-018B0C7C2A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525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3196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5A0BA27-1B3E-284F-A41F-F988E90070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7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9184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39D1C75-606C-4D47-8814-AB30DCA4C3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6815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44802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C321F0F-9EE5-FC4B-A5AF-678F2F4F9C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546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2">
    <p:bg>
      <p:bgPr>
        <a:solidFill>
          <a:srgbClr val="23C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 userDrawn="1"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DC967D-822F-0D4D-9D88-47A397D689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99DB077-1C85-A441-AE94-AEC6EEA7D3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87458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2F189F0-0DDE-404F-9FD7-21EBA1DC01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3DF19-D33D-4658-9164-10D3FE685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4287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6237" y="1240838"/>
            <a:ext cx="11431587" cy="523775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3pPr>
            <a:lvl4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4pPr>
            <a:lvl5pPr marL="355591" indent="-266693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62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759301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167298" y="2921079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747517" y="2921079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257866" y="2921079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167299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747517" y="1233488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257867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744941" y="293606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744942" y="1255555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2C408C0-1A1B-4D4D-B79A-2D37D6F3CB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29773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167876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13794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59713" y="124666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505633" y="124666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41670F-D9DB-3140-AAEA-4430FBF2D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24373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90" y="1246663"/>
            <a:ext cx="5612791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2589" y="1246661"/>
            <a:ext cx="5621337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1C86EE-79CD-A844-BC58-36532ABD5C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66748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1181" y="1240839"/>
            <a:ext cx="5612745" cy="52377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89" y="1239313"/>
            <a:ext cx="5621337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marR="0" indent="-171446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C6158FE-928A-7845-B66A-66F0FE0F7F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386436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82062" y="1239312"/>
            <a:ext cx="5621863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9185" y="1246663"/>
            <a:ext cx="5608641" cy="523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3FBF726-3A82-7143-ACCB-5046CC509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86077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376238" y="3968576"/>
            <a:ext cx="5627687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249" y="1233490"/>
            <a:ext cx="5627676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0195" y="1233489"/>
            <a:ext cx="5627631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0195" y="3968576"/>
            <a:ext cx="5627631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/>
            </a:lvl1pPr>
            <a:lvl2pPr marL="171446" indent="-171446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70B6DD-EFD0-B148-AC2D-17D9B4352A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34283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79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slideLayout" Target="../slideLayouts/slideLayout94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101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7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31" Type="http://schemas.openxmlformats.org/officeDocument/2006/relationships/slideLayout" Target="../slideLayouts/slideLayout99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5.xml"/><Relationship Id="rId30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26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26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5" Type="http://schemas.openxmlformats.org/officeDocument/2006/relationships/slideLayout" Target="../slideLayouts/slideLayout130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24" Type="http://schemas.openxmlformats.org/officeDocument/2006/relationships/slideLayout" Target="../slideLayouts/slideLayout129.xml"/><Relationship Id="rId32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28.xml"/><Relationship Id="rId28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slideLayout" Target="../slideLayouts/slideLayout127.xml"/><Relationship Id="rId27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4.xml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142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42" r:id="rId2"/>
    <p:sldLayoutId id="2147483806" r:id="rId3"/>
    <p:sldLayoutId id="2147484338" r:id="rId4"/>
    <p:sldLayoutId id="2147483779" r:id="rId5"/>
    <p:sldLayoutId id="2147483789" r:id="rId6"/>
    <p:sldLayoutId id="2147483788" r:id="rId7"/>
    <p:sldLayoutId id="2147483778" r:id="rId8"/>
    <p:sldLayoutId id="2147484218" r:id="rId9"/>
    <p:sldLayoutId id="2147484219" r:id="rId10"/>
    <p:sldLayoutId id="2147483696" r:id="rId11"/>
    <p:sldLayoutId id="2147483790" r:id="rId12"/>
    <p:sldLayoutId id="2147484314" r:id="rId13"/>
    <p:sldLayoutId id="2147483791" r:id="rId14"/>
    <p:sldLayoutId id="2147483802" r:id="rId15"/>
    <p:sldLayoutId id="2147484315" r:id="rId16"/>
    <p:sldLayoutId id="2147484316" r:id="rId17"/>
    <p:sldLayoutId id="2147484322" r:id="rId18"/>
    <p:sldLayoutId id="2147484323" r:id="rId19"/>
    <p:sldLayoutId id="2147484324" r:id="rId20"/>
    <p:sldLayoutId id="2147484317" r:id="rId21"/>
    <p:sldLayoutId id="2147484325" r:id="rId22"/>
    <p:sldLayoutId id="2147484328" r:id="rId23"/>
    <p:sldLayoutId id="2147484318" r:id="rId24"/>
    <p:sldLayoutId id="2147484327" r:id="rId25"/>
    <p:sldLayoutId id="2147484334" r:id="rId26"/>
    <p:sldLayoutId id="2147484335" r:id="rId27"/>
    <p:sldLayoutId id="2147484326" r:id="rId28"/>
    <p:sldLayoutId id="2147484319" r:id="rId29"/>
    <p:sldLayoutId id="2147484336" r:id="rId30"/>
    <p:sldLayoutId id="2147484337" r:id="rId31"/>
    <p:sldLayoutId id="2147484443" r:id="rId32"/>
    <p:sldLayoutId id="2147484455" r:id="rId33"/>
    <p:sldLayoutId id="2147484459" r:id="rId34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1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5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3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7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1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5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9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79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6" r:id="rId1"/>
    <p:sldLayoutId id="2147484444" r:id="rId2"/>
    <p:sldLayoutId id="2147484342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  <p:sldLayoutId id="2147484353" r:id="rId13"/>
    <p:sldLayoutId id="2147484354" r:id="rId14"/>
    <p:sldLayoutId id="2147484355" r:id="rId15"/>
    <p:sldLayoutId id="2147484356" r:id="rId16"/>
    <p:sldLayoutId id="2147484357" r:id="rId17"/>
    <p:sldLayoutId id="2147484358" r:id="rId18"/>
    <p:sldLayoutId id="2147484359" r:id="rId19"/>
    <p:sldLayoutId id="2147484360" r:id="rId20"/>
    <p:sldLayoutId id="2147484361" r:id="rId21"/>
    <p:sldLayoutId id="2147484362" r:id="rId22"/>
    <p:sldLayoutId id="2147484363" r:id="rId23"/>
    <p:sldLayoutId id="2147484364" r:id="rId24"/>
    <p:sldLayoutId id="2147484365" r:id="rId25"/>
    <p:sldLayoutId id="2147484366" r:id="rId26"/>
    <p:sldLayoutId id="2147484367" r:id="rId27"/>
    <p:sldLayoutId id="2147484368" r:id="rId28"/>
    <p:sldLayoutId id="2147484369" r:id="rId29"/>
    <p:sldLayoutId id="2147484370" r:id="rId30"/>
    <p:sldLayoutId id="2147484371" r:id="rId31"/>
    <p:sldLayoutId id="2147484378" r:id="rId32"/>
    <p:sldLayoutId id="2147484449" r:id="rId33"/>
    <p:sldLayoutId id="2147484445" r:id="rId34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97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8" r:id="rId1"/>
    <p:sldLayoutId id="2147484447" r:id="rId2"/>
    <p:sldLayoutId id="2147484407" r:id="rId3"/>
    <p:sldLayoutId id="2147484408" r:id="rId4"/>
    <p:sldLayoutId id="2147483975" r:id="rId5"/>
    <p:sldLayoutId id="2147484379" r:id="rId6"/>
    <p:sldLayoutId id="2147484380" r:id="rId7"/>
    <p:sldLayoutId id="2147484381" r:id="rId8"/>
    <p:sldLayoutId id="2147484382" r:id="rId9"/>
    <p:sldLayoutId id="2147484383" r:id="rId10"/>
    <p:sldLayoutId id="2147484384" r:id="rId11"/>
    <p:sldLayoutId id="2147484385" r:id="rId12"/>
    <p:sldLayoutId id="2147484386" r:id="rId13"/>
    <p:sldLayoutId id="2147484387" r:id="rId14"/>
    <p:sldLayoutId id="2147484388" r:id="rId15"/>
    <p:sldLayoutId id="2147484389" r:id="rId16"/>
    <p:sldLayoutId id="2147484390" r:id="rId17"/>
    <p:sldLayoutId id="2147484391" r:id="rId18"/>
    <p:sldLayoutId id="2147484392" r:id="rId19"/>
    <p:sldLayoutId id="2147484393" r:id="rId20"/>
    <p:sldLayoutId id="2147484394" r:id="rId21"/>
    <p:sldLayoutId id="2147484395" r:id="rId22"/>
    <p:sldLayoutId id="2147484396" r:id="rId23"/>
    <p:sldLayoutId id="2147484397" r:id="rId24"/>
    <p:sldLayoutId id="2147484398" r:id="rId25"/>
    <p:sldLayoutId id="2147484399" r:id="rId26"/>
    <p:sldLayoutId id="2147484400" r:id="rId27"/>
    <p:sldLayoutId id="2147484401" r:id="rId28"/>
    <p:sldLayoutId id="2147484402" r:id="rId29"/>
    <p:sldLayoutId id="2147484403" r:id="rId30"/>
    <p:sldLayoutId id="2147484404" r:id="rId31"/>
    <p:sldLayoutId id="2147484405" r:id="rId32"/>
    <p:sldLayoutId id="2147484406" r:id="rId33"/>
    <p:sldLayoutId id="2147484013" r:id="rId34"/>
    <p:sldLayoutId id="2147484409" r:id="rId35"/>
    <p:sldLayoutId id="2147484450" r:id="rId36"/>
    <p:sldLayoutId id="2147484451" r:id="rId37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99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2" r:id="rId1"/>
    <p:sldLayoutId id="2147484411" r:id="rId2"/>
    <p:sldLayoutId id="2147484063" r:id="rId3"/>
    <p:sldLayoutId id="2147484412" r:id="rId4"/>
    <p:sldLayoutId id="2147484413" r:id="rId5"/>
    <p:sldLayoutId id="2147484414" r:id="rId6"/>
    <p:sldLayoutId id="2147484415" r:id="rId7"/>
    <p:sldLayoutId id="2147484416" r:id="rId8"/>
    <p:sldLayoutId id="2147484417" r:id="rId9"/>
    <p:sldLayoutId id="2147484418" r:id="rId10"/>
    <p:sldLayoutId id="2147484419" r:id="rId11"/>
    <p:sldLayoutId id="2147484420" r:id="rId12"/>
    <p:sldLayoutId id="2147484421" r:id="rId13"/>
    <p:sldLayoutId id="2147484422" r:id="rId14"/>
    <p:sldLayoutId id="2147484423" r:id="rId15"/>
    <p:sldLayoutId id="2147484424" r:id="rId16"/>
    <p:sldLayoutId id="2147484425" r:id="rId17"/>
    <p:sldLayoutId id="2147484426" r:id="rId18"/>
    <p:sldLayoutId id="2147484427" r:id="rId19"/>
    <p:sldLayoutId id="2147484428" r:id="rId20"/>
    <p:sldLayoutId id="2147484429" r:id="rId21"/>
    <p:sldLayoutId id="2147484430" r:id="rId22"/>
    <p:sldLayoutId id="2147484431" r:id="rId23"/>
    <p:sldLayoutId id="2147484432" r:id="rId24"/>
    <p:sldLayoutId id="2147484433" r:id="rId25"/>
    <p:sldLayoutId id="2147484434" r:id="rId26"/>
    <p:sldLayoutId id="2147484435" r:id="rId27"/>
    <p:sldLayoutId id="2147484436" r:id="rId28"/>
    <p:sldLayoutId id="2147484437" r:id="rId29"/>
    <p:sldLayoutId id="2147484438" r:id="rId30"/>
    <p:sldLayoutId id="2147484087" r:id="rId31"/>
    <p:sldLayoutId id="2147484453" r:id="rId32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369218"/>
            <a:ext cx="10595713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AF93FCE7-DBB4-9F4D-BD6A-3D02A5FEEA2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4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6" r:id="rId8"/>
    <p:sldLayoutId id="2147484217" r:id="rId9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8BAB-31D7-48C5-AF25-05D529D92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7369686" cy="2431485"/>
          </a:xfrm>
        </p:spPr>
        <p:txBody>
          <a:bodyPr/>
          <a:lstStyle/>
          <a:p>
            <a:r>
              <a:rPr lang="en-GB" dirty="0"/>
              <a:t>Docker Compose</a:t>
            </a:r>
          </a:p>
        </p:txBody>
      </p:sp>
    </p:spTree>
    <p:extLst>
      <p:ext uri="{BB962C8B-B14F-4D97-AF65-F5344CB8AC3E}">
        <p14:creationId xmlns:p14="http://schemas.microsoft.com/office/powerpoint/2010/main" val="50328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298B9C-0185-40ED-B53A-FB3B0E848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200" dirty="0"/>
              <a:t>What is  Docker compose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85C47-3BA5-4FA2-B72E-325CE4C7B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4F414-72E0-BEE0-25B0-0B4837AC97DC}"/>
              </a:ext>
            </a:extLst>
          </p:cNvPr>
          <p:cNvSpPr txBox="1"/>
          <p:nvPr/>
        </p:nvSpPr>
        <p:spPr>
          <a:xfrm>
            <a:off x="4465983" y="862762"/>
            <a:ext cx="70236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  <a:t>Can create </a:t>
            </a:r>
            <a:r>
              <a:rPr lang="en-GB" b="1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collections of containers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  <a:t>On the same server</a:t>
            </a:r>
            <a:r>
              <a:rPr lang="en-GB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 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  <a:t>Creates a network between them so they can call each other using their service name</a:t>
            </a:r>
            <a:br>
              <a:rPr lang="en-GB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</a:br>
            <a:endParaRPr lang="en-GB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  <a:t>E</a:t>
            </a:r>
            <a:r>
              <a:rPr lang="en-GB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nables you to d</a:t>
            </a:r>
            <a:r>
              <a:rPr lang="en-GB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efine and run multiple containers with a single command.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12529"/>
              </a:solidFill>
              <a:effectLst/>
              <a:highlight>
                <a:srgbClr val="FFFFFF"/>
              </a:highlight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Uses a single configuration file to specify deployment</a:t>
            </a:r>
            <a:endParaRPr lang="en-GB" dirty="0">
              <a:solidFill>
                <a:srgbClr val="212529"/>
              </a:solidFill>
              <a:highlight>
                <a:srgbClr val="FFFFFF"/>
              </a:highlight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212529"/>
              </a:solidFill>
              <a:highlight>
                <a:srgbClr val="FFFFFF"/>
              </a:highlight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529"/>
                </a:solidFill>
                <a:highlight>
                  <a:srgbClr val="FFFFFF"/>
                </a:highlight>
                <a:latin typeface="Montserrat" panose="00000500000000000000" pitchFamily="2" charset="0"/>
              </a:rPr>
              <a:t>Is a great tool for spinning </a:t>
            </a:r>
            <a:r>
              <a:rPr lang="en-GB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Montserrat" panose="00000500000000000000" pitchFamily="2" charset="0"/>
              </a:rPr>
              <a:t>microservice apps</a:t>
            </a:r>
          </a:p>
        </p:txBody>
      </p:sp>
    </p:spTree>
    <p:extLst>
      <p:ext uri="{BB962C8B-B14F-4D97-AF65-F5344CB8AC3E}">
        <p14:creationId xmlns:p14="http://schemas.microsoft.com/office/powerpoint/2010/main" val="52270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29D7A2-F1A6-F145-986B-7045DDF11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Why use Docker Compose?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E49E-E6E3-5DEE-4CD2-FE88E2BF53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Ease of Use:    </a:t>
            </a:r>
            <a:r>
              <a:rPr lang="en-GB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docker compose up/down</a:t>
            </a:r>
            <a:b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GB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Simplified Multi-Container Management:   </a:t>
            </a:r>
            <a:r>
              <a:rPr lang="en-GB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compose.yml</a:t>
            </a:r>
            <a:br>
              <a:rPr lang="en-GB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Environment Consistency</a:t>
            </a:r>
            <a:endParaRPr lang="en-GB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196" lvl="1" indent="-285750"/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Consistency between Dev, test, and production environments by using the same configuration.</a:t>
            </a:r>
            <a:b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Simplified Networking</a:t>
            </a:r>
          </a:p>
          <a:p>
            <a:pPr marL="457196" lvl="1" indent="-285750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creates a network for your services, allowing them to communicate with each other using simple service names.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 Dependency Management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ensuring that services start in the correct order. </a:t>
            </a:r>
          </a:p>
          <a:p>
            <a:pPr marL="457196" lvl="1" indent="-285750"/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Useful for databases, message queues, or any other service that must be up and running before other services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Persistent Data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457196" lvl="1" indent="-285750"/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define and manage data volumes, ensuring data persistence and data sharing between containers.</a:t>
            </a:r>
            <a:endParaRPr lang="en-GB" dirty="0">
              <a:effectLst/>
              <a:latin typeface="Calibri" panose="020F0502020204030204" pitchFamily="34" charset="0"/>
              <a:ea typeface="Droid Sans Fallb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ea typeface="Droid Sans Fallback"/>
            </a:endParaRPr>
          </a:p>
          <a:p>
            <a:pPr marL="457196" lvl="1" indent="-285750"/>
            <a:endParaRPr lang="en-GB" dirty="0">
              <a:effectLst/>
              <a:latin typeface="Calibri" panose="020F0502020204030204" pitchFamily="34" charset="0"/>
              <a:ea typeface="Droid Sans Fallb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33B5-FE04-11DC-BA61-9A09EBCF1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DFE6C-0560-2543-66F3-932E0B7499FA}"/>
              </a:ext>
            </a:extLst>
          </p:cNvPr>
          <p:cNvSpPr txBox="1"/>
          <p:nvPr/>
        </p:nvSpPr>
        <p:spPr>
          <a:xfrm>
            <a:off x="7410760" y="1866548"/>
            <a:ext cx="4238402" cy="52026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 sz="1400" b="1" dirty="0">
                <a:solidFill>
                  <a:schemeClr val="accent3">
                    <a:lumMod val="50000"/>
                  </a:schemeClr>
                </a:solidFill>
              </a:rPr>
              <a:t>docker-</a:t>
            </a:r>
            <a:r>
              <a:rPr lang="en-GB" sz="1400" b="1" dirty="0" err="1">
                <a:solidFill>
                  <a:schemeClr val="accent3">
                    <a:lumMod val="50000"/>
                  </a:schemeClr>
                </a:solidFill>
              </a:rPr>
              <a:t>compose.yml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</a:rPr>
              <a:t>  (or .</a:t>
            </a:r>
            <a:r>
              <a:rPr lang="en-GB" sz="1400" dirty="0" err="1">
                <a:solidFill>
                  <a:schemeClr val="accent3">
                    <a:lumMod val="50000"/>
                  </a:schemeClr>
                </a:solidFill>
              </a:rPr>
              <a:t>yaml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br>
              <a:rPr lang="en-GB" sz="14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Is also acceptable but best use </a:t>
            </a:r>
            <a:r>
              <a:rPr lang="en-GB" sz="1400" b="1" dirty="0" err="1">
                <a:solidFill>
                  <a:schemeClr val="accent3">
                    <a:lumMod val="50000"/>
                  </a:schemeClr>
                </a:solidFill>
              </a:rPr>
              <a:t>compose.yml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260634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B3C95-AD8C-0D3C-3696-5BECF3FCF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519D7-F921-29D7-EDB5-947F52085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Compose CLI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38D60-7D94-9830-7666-854A324D97B9}"/>
              </a:ext>
            </a:extLst>
          </p:cNvPr>
          <p:cNvSpPr txBox="1"/>
          <p:nvPr/>
        </p:nvSpPr>
        <p:spPr>
          <a:xfrm>
            <a:off x="476940" y="1455606"/>
            <a:ext cx="11423650" cy="3970318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docker compose up </a:t>
            </a:r>
            <a:r>
              <a:rPr lang="en-GB" dirty="0"/>
              <a:t>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Start up all the services declared in the configuration</a:t>
            </a:r>
          </a:p>
          <a:p>
            <a:r>
              <a:rPr lang="en-GB" dirty="0"/>
              <a:t>				</a:t>
            </a:r>
            <a:r>
              <a:rPr lang="en-GB" b="1" dirty="0"/>
              <a:t>-d</a:t>
            </a:r>
            <a:r>
              <a:rPr lang="en-GB" dirty="0"/>
              <a:t>  	Run the containers in the background </a:t>
            </a:r>
          </a:p>
          <a:p>
            <a:r>
              <a:rPr lang="en-GB" dirty="0"/>
              <a:t>				</a:t>
            </a:r>
            <a:r>
              <a:rPr lang="en-GB" b="1" dirty="0"/>
              <a:t>--build</a:t>
            </a:r>
            <a:r>
              <a:rPr lang="en-GB" dirty="0"/>
              <a:t>	Build images before starting containers</a:t>
            </a:r>
          </a:p>
          <a:p>
            <a:r>
              <a:rPr lang="en-GB" dirty="0"/>
              <a:t>				</a:t>
            </a:r>
            <a:r>
              <a:rPr lang="en-GB" b="1" dirty="0"/>
              <a:t>--scale [SERVICE]=[NUM]</a:t>
            </a:r>
            <a:r>
              <a:rPr lang="en-GB" dirty="0"/>
              <a:t> Can specify the number of containers</a:t>
            </a:r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docker compose down </a:t>
            </a:r>
            <a:r>
              <a:rPr lang="en-GB" dirty="0"/>
              <a:t>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Stops the services created up.</a:t>
            </a:r>
          </a:p>
          <a:p>
            <a:r>
              <a:rPr lang="en-GB" dirty="0"/>
              <a:t>				</a:t>
            </a:r>
            <a:r>
              <a:rPr lang="en-GB" b="1" dirty="0"/>
              <a:t>--</a:t>
            </a:r>
            <a:r>
              <a:rPr lang="en-GB" b="1" dirty="0" err="1"/>
              <a:t>rmi</a:t>
            </a:r>
            <a:r>
              <a:rPr lang="en-GB" b="1" dirty="0"/>
              <a:t> 	</a:t>
            </a:r>
            <a:r>
              <a:rPr lang="en-GB" dirty="0"/>
              <a:t>Removes images. </a:t>
            </a:r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docker compose build</a:t>
            </a:r>
            <a:r>
              <a:rPr lang="en-GB" dirty="0"/>
              <a:t> 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Builds the images without running any containers.</a:t>
            </a:r>
          </a:p>
          <a:p>
            <a:r>
              <a:rPr lang="en-GB" dirty="0"/>
              <a:t>				</a:t>
            </a:r>
            <a:r>
              <a:rPr lang="en-GB" b="1" dirty="0"/>
              <a:t>--parallel</a:t>
            </a:r>
            <a:r>
              <a:rPr lang="en-GB" dirty="0"/>
              <a:t>	Builds all the images at the same time to save 							time when images do not depend on each other</a:t>
            </a: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FDA91-FCC2-464D-BD5D-3FECE5B34A6E}"/>
              </a:ext>
            </a:extLst>
          </p:cNvPr>
          <p:cNvSpPr txBox="1"/>
          <p:nvPr/>
        </p:nvSpPr>
        <p:spPr>
          <a:xfrm>
            <a:off x="538842" y="5715000"/>
            <a:ext cx="6410598" cy="7152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t" anchorCtr="0">
            <a:normAutofit/>
          </a:bodyPr>
          <a:lstStyle/>
          <a:p>
            <a:pPr algn="l"/>
            <a:br>
              <a:rPr lang="en-GB" sz="1600" dirty="0"/>
            </a:br>
            <a:r>
              <a:rPr lang="en-GB" sz="1600" dirty="0"/>
              <a:t> </a:t>
            </a:r>
            <a:r>
              <a:rPr lang="en-GB" b="1" dirty="0"/>
              <a:t>Note:</a:t>
            </a:r>
            <a:r>
              <a:rPr lang="en-GB" sz="1600" dirty="0"/>
              <a:t> </a:t>
            </a:r>
            <a:r>
              <a:rPr lang="en-GB" b="1" dirty="0">
                <a:solidFill>
                  <a:schemeClr val="accent3">
                    <a:lumMod val="50000"/>
                  </a:schemeClr>
                </a:solidFill>
              </a:rPr>
              <a:t>docker-compose </a:t>
            </a:r>
            <a:r>
              <a:rPr lang="en-GB" sz="1600" dirty="0"/>
              <a:t>set of commands are deprecated</a:t>
            </a:r>
          </a:p>
        </p:txBody>
      </p:sp>
    </p:spTree>
    <p:extLst>
      <p:ext uri="{BB962C8B-B14F-4D97-AF65-F5344CB8AC3E}">
        <p14:creationId xmlns:p14="http://schemas.microsoft.com/office/powerpoint/2010/main" val="172693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B3C95-AD8C-0D3C-3696-5BECF3FCF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519D7-F921-29D7-EDB5-947F52085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Compose CLI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38D60-7D94-9830-7666-854A324D97B9}"/>
              </a:ext>
            </a:extLst>
          </p:cNvPr>
          <p:cNvSpPr txBox="1"/>
          <p:nvPr/>
        </p:nvSpPr>
        <p:spPr>
          <a:xfrm>
            <a:off x="476940" y="1352014"/>
            <a:ext cx="11423650" cy="3693319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docker compose </a:t>
            </a:r>
            <a:r>
              <a:rPr lang="en-GB" b="1" dirty="0" err="1"/>
              <a:t>ps</a:t>
            </a:r>
            <a:r>
              <a:rPr lang="en-GB" dirty="0"/>
              <a:t> 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Displays the running containers started by Docker</a:t>
            </a:r>
            <a:r>
              <a:rPr lang="en-GB" dirty="0"/>
              <a:t> 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Compose</a:t>
            </a:r>
            <a:endParaRPr lang="en-GB" dirty="0"/>
          </a:p>
          <a:p>
            <a:r>
              <a:rPr lang="en-GB" dirty="0"/>
              <a:t>				</a:t>
            </a:r>
            <a:r>
              <a:rPr lang="en-GB" b="1" dirty="0">
                <a:solidFill>
                  <a:srgbClr val="002060"/>
                </a:solidFill>
              </a:rPr>
              <a:t>-a</a:t>
            </a:r>
            <a:r>
              <a:rPr lang="en-GB" dirty="0"/>
              <a:t>	Show all containers, including stopped ones</a:t>
            </a:r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docker compose exec</a:t>
            </a:r>
            <a:r>
              <a:rPr lang="en-GB" dirty="0"/>
              <a:t> 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Execute a command in a running container</a:t>
            </a:r>
          </a:p>
          <a:p>
            <a:r>
              <a:rPr lang="en-GB" dirty="0"/>
              <a:t>				</a:t>
            </a:r>
            <a:r>
              <a:rPr lang="en-GB" b="1" dirty="0">
                <a:solidFill>
                  <a:srgbClr val="002060"/>
                </a:solidFill>
              </a:rPr>
              <a:t>-d</a:t>
            </a:r>
            <a:r>
              <a:rPr lang="en-GB" dirty="0"/>
              <a:t> 	Run the command in the background</a:t>
            </a:r>
          </a:p>
          <a:p>
            <a:r>
              <a:rPr lang="en-GB" dirty="0"/>
              <a:t>				</a:t>
            </a:r>
            <a:r>
              <a:rPr lang="en-GB" b="1" dirty="0">
                <a:solidFill>
                  <a:srgbClr val="002060"/>
                </a:solidFill>
              </a:rPr>
              <a:t>-e</a:t>
            </a:r>
            <a:r>
              <a:rPr lang="en-GB" b="1" dirty="0"/>
              <a:t>  	</a:t>
            </a:r>
            <a:r>
              <a:rPr lang="en-GB" dirty="0"/>
              <a:t>Set environment variables</a:t>
            </a:r>
            <a:br>
              <a:rPr lang="en-GB" dirty="0"/>
            </a:br>
            <a:endParaRPr lang="en-GB" dirty="0"/>
          </a:p>
          <a:p>
            <a:endParaRPr lang="en-GB" b="1" dirty="0"/>
          </a:p>
          <a:p>
            <a:r>
              <a:rPr lang="en-GB" b="1" dirty="0"/>
              <a:t>docker compose logs</a:t>
            </a:r>
            <a:r>
              <a:rPr lang="en-GB" dirty="0"/>
              <a:t>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Display the log outputs from the running services</a:t>
            </a:r>
          </a:p>
          <a:p>
            <a:r>
              <a:rPr lang="en-GB" dirty="0"/>
              <a:t>				</a:t>
            </a:r>
          </a:p>
          <a:p>
            <a:endParaRPr lang="en-GB" b="1" dirty="0"/>
          </a:p>
          <a:p>
            <a:r>
              <a:rPr lang="en-GB" b="1" dirty="0"/>
              <a:t>docker compose push</a:t>
            </a:r>
            <a:r>
              <a:rPr lang="en-GB" dirty="0"/>
              <a:t>		</a:t>
            </a:r>
            <a:r>
              <a:rPr lang="en-GB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Push the images used for the services to a registry</a:t>
            </a:r>
          </a:p>
        </p:txBody>
      </p:sp>
    </p:spTree>
    <p:extLst>
      <p:ext uri="{BB962C8B-B14F-4D97-AF65-F5344CB8AC3E}">
        <p14:creationId xmlns:p14="http://schemas.microsoft.com/office/powerpoint/2010/main" val="318221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67372A-3347-63D8-5FCF-96B40147C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1D84F-782C-24D5-E53D-1ED40FAE03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53B1C-4956-A1B9-3256-21DE4956FC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b="1" dirty="0"/>
              <a:t>Please do the following  lab</a:t>
            </a:r>
          </a:p>
          <a:p>
            <a:endParaRPr lang="en-GB" sz="2000" b="1" dirty="0"/>
          </a:p>
          <a:p>
            <a:r>
              <a:rPr lang="en-GB" sz="2000" b="1" dirty="0"/>
              <a:t>4</a:t>
            </a:r>
            <a:r>
              <a:rPr lang="en-GB" sz="2000" b="1"/>
              <a:t>-Docker </a:t>
            </a:r>
            <a:r>
              <a:rPr lang="en-GB" sz="2000" b="1" dirty="0"/>
              <a:t>Compose.docx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893490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_Primary_Colors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Master_Red_and_Purpl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3.xml><?xml version="1.0" encoding="utf-8"?>
<a:theme xmlns:a="http://schemas.openxmlformats.org/drawingml/2006/main" name="Master_Yellow_and_Orang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4.xml><?xml version="1.0" encoding="utf-8"?>
<a:theme xmlns:a="http://schemas.openxmlformats.org/drawingml/2006/main" name="Master_Blu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5.xml><?xml version="1.0" encoding="utf-8"?>
<a:theme xmlns:a="http://schemas.openxmlformats.org/drawingml/2006/main" name="Master_Neutral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dd4f8b-4e55-4b0f-90ae-c416a13e2e63">
      <Terms xmlns="http://schemas.microsoft.com/office/infopath/2007/PartnerControls"/>
    </lcf76f155ced4ddcb4097134ff3c332f>
    <TaxCatchAll xmlns="51b58b7f-359e-418a-8fc0-c5d77d026b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ECE2E70AB8B46B2C449C81E540480" ma:contentTypeVersion="16" ma:contentTypeDescription="Create a new document." ma:contentTypeScope="" ma:versionID="1df647ff451cce96fec958af0153ffba">
  <xsd:schema xmlns:xsd="http://www.w3.org/2001/XMLSchema" xmlns:xs="http://www.w3.org/2001/XMLSchema" xmlns:p="http://schemas.microsoft.com/office/2006/metadata/properties" xmlns:ns2="04dd4f8b-4e55-4b0f-90ae-c416a13e2e63" xmlns:ns3="51b58b7f-359e-418a-8fc0-c5d77d026bdc" targetNamespace="http://schemas.microsoft.com/office/2006/metadata/properties" ma:root="true" ma:fieldsID="5089fbabc7396ddc8a0ca74cb50b0683" ns2:_="" ns3:_="">
    <xsd:import namespace="04dd4f8b-4e55-4b0f-90ae-c416a13e2e63"/>
    <xsd:import namespace="51b58b7f-359e-418a-8fc0-c5d77d026b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dd4f8b-4e55-4b0f-90ae-c416a13e2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b58b7f-359e-418a-8fc0-c5d77d026bd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d02b767-6ee7-4f18-ac1f-362d437aa0cf}" ma:internalName="TaxCatchAll" ma:showField="CatchAllData" ma:web="51b58b7f-359e-418a-8fc0-c5d77d026b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4FD4C0-AF61-4457-ADCF-4CFE3F92DA4C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448C177D-8930-4CE7-B892-EC306B91C362"/>
    <ds:schemaRef ds:uri="http://www.w3.org/XML/1998/namespace"/>
    <ds:schemaRef ds:uri="04dd4f8b-4e55-4b0f-90ae-c416a13e2e63"/>
    <ds:schemaRef ds:uri="51b58b7f-359e-418a-8fc0-c5d77d026bdc"/>
  </ds:schemaRefs>
</ds:datastoreItem>
</file>

<file path=customXml/itemProps2.xml><?xml version="1.0" encoding="utf-8"?>
<ds:datastoreItem xmlns:ds="http://schemas.openxmlformats.org/officeDocument/2006/customXml" ds:itemID="{06D42DE0-B197-4E79-9969-FB750B2AC8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dd4f8b-4e55-4b0f-90ae-c416a13e2e63"/>
    <ds:schemaRef ds:uri="51b58b7f-359e-418a-8fc0-c5d77d026b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466F22-B209-49D5-9C6F-CD2632AF8C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Widescreen</PresentationFormat>
  <Paragraphs>62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Courier New</vt:lpstr>
      <vt:lpstr>Montserrat</vt:lpstr>
      <vt:lpstr>Montserrat Black</vt:lpstr>
      <vt:lpstr>Times New Roman</vt:lpstr>
      <vt:lpstr>Master_Primary_Colors</vt:lpstr>
      <vt:lpstr>Master_Red_and_Purple</vt:lpstr>
      <vt:lpstr>Master_Yellow_and_Orange</vt:lpstr>
      <vt:lpstr>Master_Blue</vt:lpstr>
      <vt:lpstr>Master_Neutral</vt:lpstr>
      <vt:lpstr>Docker Compose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</dc:title>
  <dc:creator>Waller, Michelle</dc:creator>
  <cp:lastModifiedBy>Baradaran, Mike</cp:lastModifiedBy>
  <cp:revision>82</cp:revision>
  <dcterms:created xsi:type="dcterms:W3CDTF">2020-09-24T08:38:39Z</dcterms:created>
  <dcterms:modified xsi:type="dcterms:W3CDTF">2025-04-16T10:27:25Z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0x010100488ECE2E70AB8B46B2C449C81E540480</vt:lpwstr>
  </property>
  <property fmtid="{D5CDD505-2E9C-101B-9397-08002B2CF9AE}" pid="3" name="BookType">
    <vt:lpwstr>4</vt:lpwstr>
  </property>
</Properties>
</file>